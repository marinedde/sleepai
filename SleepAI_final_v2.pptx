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7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76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4364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99592" y="911860"/>
            <a:ext cx="1828800" cy="1828800"/>
          </a:xfrm>
          <a:prstGeom prst="ellipse">
            <a:avLst/>
          </a:prstGeom>
          <a:solidFill>
            <a:srgbClr val="048A81">
              <a:alpha val="70000"/>
            </a:srgbClr>
          </a:solidFill>
          <a:ln w="12700">
            <a:solidFill>
              <a:srgbClr val="048A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453896" y="911860"/>
            <a:ext cx="1828800" cy="18288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SleepAI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4C6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Et si analyser une nuit de sommeil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54C6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prenait 2 secondes au lieu de 4 heures ? 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9ECEF"/>
                </a:solidFill>
              </a:rPr>
              <a:t>EEG  ·  ECG  ·  FastAPI  ·  Streamlit  ·  Docker  ·  GitHub Actions  ·  HuggingFace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</a:rPr>
              <a:t>Marine Deldicque  —  Jedha Bootcamp AIA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6080"/>
                </a:solidFill>
              </a:rPr>
              <a:t>1 / 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problème de santé publique majeur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06040" cy="23774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Md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de personnes touchées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par l'apnée du sommeil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dans le monde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005840"/>
            <a:ext cx="2606040" cy="2377440"/>
          </a:xfrm>
          <a:prstGeom prst="rect">
            <a:avLst/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0" y="1097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00400" y="210312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des cas non diagnostiqués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— une épidémie silencieuse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invisible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606040" cy="2377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035040" y="1097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1/3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035040" y="210312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de notre vie passée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à dormir — et pourtant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si peu exploré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8412480" cy="1325880"/>
          </a:xfrm>
          <a:prstGeom prst="rect">
            <a:avLst/>
          </a:prstGeom>
          <a:solidFill>
            <a:srgbClr val="F0F4F8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91440" cy="132588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94360" y="3657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Conséquences : hypertension, AVC, diabète de type 2, accidents de la route, dépression.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069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</a:rPr>
              <a:t>Un diagnostic précoce change radicalement le pronostic — mais il reste hors de portée pour beaucoup.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C757D"/>
                </a:solidFill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goulot d'étranglement : la polysomnographie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965960" cy="50292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8A81"/>
                </a:solidFill>
              </a:rPr>
              <a:t>Nuit d'enregistrement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</a:rPr>
              <a:t>Patient </a:t>
            </a:r>
            <a:r>
              <a:rPr lang="en-US" sz="1050" dirty="0" err="1">
                <a:solidFill>
                  <a:srgbClr val="6C757D"/>
                </a:solidFill>
              </a:rPr>
              <a:t>hospitalisé</a:t>
            </a:r>
            <a:r>
              <a:rPr lang="en-US" sz="1050" dirty="0">
                <a:solidFill>
                  <a:srgbClr val="6C757D"/>
                </a:solidFill>
              </a:rPr>
              <a:t>, </a:t>
            </a:r>
            <a:r>
              <a:rPr lang="en-US" sz="1050" dirty="0" err="1">
                <a:solidFill>
                  <a:srgbClr val="6C757D"/>
                </a:solidFill>
              </a:rPr>
              <a:t>ou</a:t>
            </a:r>
            <a:br>
              <a:rPr lang="en-US" sz="1050" dirty="0">
                <a:solidFill>
                  <a:srgbClr val="6C757D"/>
                </a:solidFill>
              </a:rPr>
            </a:br>
            <a:r>
              <a:rPr lang="en-US" sz="1050" dirty="0">
                <a:solidFill>
                  <a:srgbClr val="6C757D"/>
                </a:solidFill>
              </a:rPr>
              <a:t>à domicile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</a:rPr>
              <a:t>8h de capteurs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</a:rPr>
              <a:t>EEG + ECG + SpO₂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40280" y="1920240"/>
            <a:ext cx="210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757D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1005840"/>
            <a:ext cx="1965960" cy="502920"/>
          </a:xfrm>
          <a:prstGeom prst="rect">
            <a:avLst/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450592" y="1005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450592" y="150876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542032" y="157276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8354"/>
                </a:solidFill>
              </a:rPr>
              <a:t>Analyse manuelle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42032" y="201168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</a:rPr>
              <a:t>Technicien qualifié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</a:rPr>
              <a:t>4 à 6 heures de travail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</a:rPr>
              <a:t>segment par segment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920240"/>
            <a:ext cx="210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757D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626864" y="1005840"/>
            <a:ext cx="1965960" cy="50292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626864" y="1005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626864" y="150876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718304" y="157276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4855"/>
                </a:solidFill>
              </a:rPr>
              <a:t>Rendu médecin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18304" y="201168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</a:rPr>
              <a:t>Délai de 2-4 semaines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</a:rPr>
              <a:t>logiciels à 20 000€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</a:rPr>
              <a:t>pas de ML intégré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92824" y="1920240"/>
            <a:ext cx="210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757D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803136" y="1005840"/>
            <a:ext cx="196596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803136" y="1005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803136" y="150876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894576" y="1572768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</a:rPr>
              <a:t>Diagnostic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94576" y="201168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</a:rPr>
              <a:t>Souvent trop tard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</a:rPr>
              <a:t>patient déjà épuisé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</a:rPr>
              <a:t>opportunité manquée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794760"/>
            <a:ext cx="4023360" cy="105156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74320" y="37947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heures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274320" y="4343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d'analyse manuelle par patient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3794760"/>
            <a:ext cx="4297680" cy="105156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572000" y="379476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2 secondes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4572000" y="4343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avec SleepAI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6080"/>
                </a:solidFill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SleepAI</a:t>
            </a: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: Ce qu'on a construit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261872" cy="100584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1261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Signaux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EEG/ECG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36192" y="12801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C757D"/>
                </a:solidFill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737360" y="1005840"/>
            <a:ext cx="1261872" cy="100584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737360" y="1051560"/>
            <a:ext cx="1261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Extraction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99232" y="12801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C757D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1261872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0" y="1051560"/>
            <a:ext cx="1261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Random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Forest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62272" y="12801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C757D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1261872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663440" y="1051560"/>
            <a:ext cx="1261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Docker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25312" y="12801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C757D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1261872" cy="10058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126480" y="1051560"/>
            <a:ext cx="1261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Streamlit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88352" y="128016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C757D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89520" y="1005840"/>
            <a:ext cx="1261872" cy="10058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589520" y="1051560"/>
            <a:ext cx="1261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Rapport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Claude AI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148840"/>
            <a:ext cx="859536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74320" y="21488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CI/CD GitHub Actions  →  Tests pytest  →  Build Docker  →  Deploy HuggingFace Spaces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697480"/>
            <a:ext cx="41605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74320" y="2697480"/>
            <a:ext cx="4160520" cy="41148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65760" y="269748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Modèle EEG — Stades du sommeil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154680"/>
            <a:ext cx="3886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Sleep-EDF Database (PhysioNet) — 28 sujets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16 features temporelles et spectrales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Classes : Wake / N1 / N2 / N3 / REM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Précision : 83.4%  ·  F1 : 0.830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697480"/>
            <a:ext cx="41605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709160" y="2697480"/>
            <a:ext cx="4160520" cy="41148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800600" y="269748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Modèle ECG — Détection d'apnées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154680"/>
            <a:ext cx="3886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Apnea-ECG Database (PhysioNet) — 35 sujets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Features HRV, intervalles RR, QRS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Classes : Normal / Apnée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AUC-ROC : 0.967  ·  F1 apnée : 0.879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C757D"/>
                </a:solidFill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du </a:t>
            </a:r>
            <a:r>
              <a:rPr lang="en-US" sz="24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41148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Données &amp; Modèles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3182112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48A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4688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Preprocessing signaux EEG/ECG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Feature engineering (16 features spectrales + temporelles)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Entraînement Random Forest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Correction data leakage (détecté manuellement)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Validation croisée &amp; métriques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Tracking MLflow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27832" y="1005840"/>
            <a:ext cx="2743200" cy="411480"/>
          </a:xfrm>
          <a:prstGeom prst="rect">
            <a:avLst/>
          </a:prstGeom>
          <a:solidFill>
            <a:srgbClr val="54C6EB"/>
          </a:solidFill>
          <a:ln w="12700">
            <a:solidFill>
              <a:srgbClr val="54C6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27832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&amp; Infrastructure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7832" y="1417320"/>
            <a:ext cx="2743200" cy="3182112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54C6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364992" y="1508760"/>
            <a:ext cx="24688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Conception API FastAPI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Endpoints predict/health/monitoring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Containerisation Docker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CI/CD GitHub Actions (5 jobs)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Déploiement HuggingFace Spaces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Monitoring &amp; détection drift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35624" y="1005840"/>
            <a:ext cx="2743200" cy="411480"/>
          </a:xfrm>
          <a:prstGeom prst="rect">
            <a:avLst/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135624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 &amp; Clinique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35624" y="1417320"/>
            <a:ext cx="2743200" cy="3182112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272784" y="1508760"/>
            <a:ext cx="24688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Dashboard Streamlit 5 pages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Visualisation signaux EEG/ECG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Intégration Claude AI (rapports)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UX clinique médecin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Validation clinique intégrée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Export rapport .txt / .json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solidFill>
            <a:srgbClr val="048A81">
              <a:alpha val="20000"/>
            </a:srgbClr>
          </a:solidFill>
          <a:ln w="12700">
            <a:solidFill>
              <a:srgbClr val="048A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de la donnée brute au déploiement end-to-end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6080"/>
                </a:solidFill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</a:t>
            </a:r>
            <a:r>
              <a:rPr lang="en-US" sz="2400" b="1" dirty="0" err="1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MLOps</a:t>
            </a: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End-to-End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965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48A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65960" cy="50292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8A81"/>
                </a:solidFill>
              </a:rPr>
              <a:t>MLflow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48A81"/>
                </a:solidFill>
              </a:rPr>
              <a:t>Tracking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2212848"/>
            <a:ext cx="1737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C757D"/>
                </a:solidFill>
              </a:rPr>
              <a:t>Paramètres &amp; métriques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C757D"/>
                </a:solidFill>
              </a:rPr>
              <a:t>Artefacts modèles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C757D"/>
                </a:solidFill>
              </a:rPr>
              <a:t>Comparaison de runs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C757D"/>
                </a:solidFill>
              </a:rPr>
              <a:t>Reproductibilité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50592" y="1005840"/>
            <a:ext cx="1965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4C6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450592" y="1005840"/>
            <a:ext cx="1965960" cy="502920"/>
          </a:xfrm>
          <a:prstGeom prst="rect">
            <a:avLst/>
          </a:prstGeom>
          <a:solidFill>
            <a:srgbClr val="54C6EB"/>
          </a:solidFill>
          <a:ln w="12700">
            <a:solidFill>
              <a:srgbClr val="54C6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450592" y="1005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50592" y="16002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4C6EB"/>
                </a:solidFill>
              </a:rPr>
              <a:t>FastAPI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54C6EB"/>
                </a:solidFill>
              </a:rPr>
              <a:t>Docker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2212848"/>
            <a:ext cx="1737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C757D"/>
                </a:solidFill>
              </a:rPr>
              <a:t>6 endpoints REST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C757D"/>
                </a:solidFill>
              </a:rPr>
              <a:t>/predict /health /monitoring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C757D"/>
                </a:solidFill>
              </a:rPr>
              <a:t>Validation Pydantic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C757D"/>
                </a:solidFill>
              </a:rPr>
              <a:t>Containerisation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26864" y="1005840"/>
            <a:ext cx="1965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83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626864" y="1005840"/>
            <a:ext cx="1965960" cy="502920"/>
          </a:xfrm>
          <a:prstGeom prst="rect">
            <a:avLst/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626864" y="1005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26864" y="16002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8354"/>
                </a:solidFill>
              </a:rPr>
              <a:t>CI/CD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F8354"/>
                </a:solidFill>
              </a:rPr>
              <a:t>GitHub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36592" y="2212848"/>
            <a:ext cx="1737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C757D"/>
                </a:solidFill>
              </a:rPr>
              <a:t>5 jobs automatiques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C757D"/>
                </a:solidFill>
              </a:rPr>
              <a:t>pytest + coverage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C757D"/>
                </a:solidFill>
              </a:rPr>
              <a:t>Docker build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C757D"/>
                </a:solidFill>
              </a:rPr>
              <a:t>Deploy HuggingFace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03136" y="1005840"/>
            <a:ext cx="1965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48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803136" y="1005840"/>
            <a:ext cx="1965960" cy="50292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803136" y="1005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03136" y="16002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855"/>
                </a:solidFill>
              </a:rPr>
              <a:t>Monitoring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84855"/>
                </a:solidFill>
              </a:rPr>
              <a:t>Drift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12864" y="2212848"/>
            <a:ext cx="1737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C757D"/>
                </a:solidFill>
              </a:rPr>
              <a:t>Stats temps réel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C757D"/>
                </a:solidFill>
              </a:rPr>
              <a:t>Détection drift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C757D"/>
                </a:solidFill>
              </a:rPr>
              <a:t>Historique prédictions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C757D"/>
                </a:solidFill>
              </a:rPr>
              <a:t>Alertes seuils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C757D"/>
                </a:solidFill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pas du Deep Learning 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Random Forest — le choix retenu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37490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Dataset petit (28 sujets EEG, 35 ECG) → CNN risquerait le sur-apprentissage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Interprétabilité : feature importance lisible par un clinicien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Inférence rapide : &lt; 50ms par prédiction — compatible API temps réel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Baseline solide et reconnue dans la littérature polysomnographique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Priorité du projet AIA : architecture MLOps, pas performance absolue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17720" y="960120"/>
            <a:ext cx="4160520" cy="411480"/>
          </a:xfrm>
          <a:prstGeom prst="rect">
            <a:avLst/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617720" y="96012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Deep Learning — axe d'amélioration identifié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1371600"/>
            <a:ext cx="41605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38862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CNN 1D sur signal brut : apprend les patterns directement, sans feature engineering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&gt; 90% accuracy attendu avec 100+ sujets (littérature)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Transformer / architecture attention : état de l'art sur séries temporelles médicales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Modèle multimodal EEG+ECG dans un seul réseau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</a:rPr>
              <a:t>Nécessite : plus de données, plus de compute, validation clinique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4658360"/>
            <a:ext cx="859536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74320" y="46685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La vraie valeur du projet : le raisonnement système — pas le modèle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C757D"/>
                </a:solidFill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&amp; Axes d'amélioration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09728" cy="18288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75488" y="1097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📊  Données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14813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55"/>
                </a:solidFill>
              </a:rPr>
              <a:t>Limite 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148132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28 sujets EEG · 35 ECG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Recherche ≠ clinique réelle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98424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8A81"/>
                </a:solidFill>
              </a:rPr>
              <a:t>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8A81"/>
                </a:solidFill>
              </a:rPr>
              <a:t>Objectif 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3619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100+ sujets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Partenariats hospitaliers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109728" cy="1828800"/>
          </a:xfrm>
          <a:prstGeom prst="rect">
            <a:avLst/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910328" y="1097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🤖  Modèle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0328" y="14813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55"/>
                </a:solidFill>
              </a:rPr>
              <a:t>Limite 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77840" y="148132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Random Forest statique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Signaux démo synthétiques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198424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8A81"/>
                </a:solidFill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1965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8A81"/>
                </a:solidFill>
              </a:rPr>
              <a:t>Objectif 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7103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CNN 1D ou Transformer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Réentraînement Airflow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109728" cy="1828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75488" y="31089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🔒  Sécurité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" y="34930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55"/>
                </a:solidFill>
              </a:rPr>
              <a:t>Limite 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34930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Prototype non sécurisé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Pas de certification 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" y="399592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8A81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3977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8A81"/>
                </a:solidFill>
              </a:rPr>
              <a:t>Objectif 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536192" y="3977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JWT + chiffrement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Hébergement HDS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0175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709160" y="3017520"/>
            <a:ext cx="109728" cy="182880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910328" y="31089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🩺  Clinique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10328" y="34930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55"/>
                </a:solidFill>
              </a:rPr>
              <a:t>Limite 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77840" y="349300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Pas de validation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sur patients réels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10328" y="399592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8A81"/>
                </a:solidFill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12080" y="3977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48A81"/>
                </a:solidFill>
              </a:rPr>
              <a:t>Objectif 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71032" y="3977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Étude pilote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</a:rPr>
              <a:t>Médecins du sommeil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6080"/>
                </a:solidFill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50492" y="914400"/>
            <a:ext cx="1371600" cy="1371600"/>
          </a:xfrm>
          <a:prstGeom prst="ellipse">
            <a:avLst/>
          </a:prstGeom>
          <a:solidFill>
            <a:srgbClr val="048A81">
              <a:alpha val="70000"/>
            </a:srgbClr>
          </a:solidFill>
          <a:ln w="12700">
            <a:solidFill>
              <a:srgbClr val="048A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2057400" y="896112"/>
            <a:ext cx="1371600" cy="13716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371600" y="219456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9ECEF"/>
                </a:solidFill>
              </a:rPr>
              <a:t>Problème réel · besoin identifié sur le terrain (infirmière IDEL)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9ECEF"/>
                </a:solidFill>
              </a:rPr>
              <a:t>Pipeline MLOps end-to-end · 2 modèles · API · Dashboard · CI/CD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9ECEF"/>
                </a:solidFill>
              </a:rPr>
              <a:t>IA générative Claude intégrée · validation clinique médecin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9ECEF"/>
                </a:solidFill>
              </a:rPr>
              <a:t>Prototype déployé sur HuggingFace Spaces · open source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8229600" cy="960120"/>
          </a:xfrm>
          <a:prstGeom prst="rect">
            <a:avLst/>
          </a:prstGeom>
          <a:solidFill>
            <a:srgbClr val="048A81">
              <a:alpha val="20000"/>
            </a:srgbClr>
          </a:solidFill>
          <a:ln w="12700">
            <a:solidFill>
              <a:srgbClr val="048A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</a:t>
            </a:r>
            <a:r>
              <a:rPr lang="fr-FR" sz="1600" b="1" dirty="0">
                <a:solidFill>
                  <a:schemeClr val="bg1"/>
                </a:solidFill>
              </a:rPr>
              <a:t>Le cerveau qui analyse votre sommeil fatigue aussi. </a:t>
            </a:r>
            <a:r>
              <a:rPr lang="fr-FR" sz="1600" b="1" dirty="0" err="1">
                <a:solidFill>
                  <a:schemeClr val="bg1"/>
                </a:solidFill>
              </a:rPr>
              <a:t>SleepAI</a:t>
            </a:r>
            <a:r>
              <a:rPr lang="fr-FR" sz="1600" b="1" dirty="0">
                <a:solidFill>
                  <a:schemeClr val="bg1"/>
                </a:solidFill>
              </a:rPr>
              <a:t> est conçu pour l’aider. </a:t>
            </a: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C6EB"/>
                </a:solidFill>
              </a:rPr>
              <a:t>marinedde-sleepai-api.hf.space</a:t>
            </a:r>
            <a:r>
              <a:rPr lang="en-US" sz="1000" dirty="0">
                <a:solidFill>
                  <a:srgbClr val="6C757D"/>
                </a:solidFill>
              </a:rPr>
              <a:t>  ·  </a:t>
            </a:r>
            <a:r>
              <a:rPr lang="en-US" sz="1000" dirty="0">
                <a:solidFill>
                  <a:srgbClr val="54C6EB"/>
                </a:solidFill>
              </a:rPr>
              <a:t>marinedde-sleepai-dashboard.hf.space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0" y="48920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6080"/>
                </a:solidFill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802</Words>
  <Application>Microsoft Macintosh PowerPoint</Application>
  <PresentationFormat>Affichage à l'écran (16:9)</PresentationFormat>
  <Paragraphs>201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SleepAI</dc:title>
  <dc:subject>PptxGenJS Presentation</dc:subject>
  <dc:creator>Marine Deldicque</dc:creator>
  <cp:lastModifiedBy>Marine deldicque</cp:lastModifiedBy>
  <cp:revision>2</cp:revision>
  <dcterms:created xsi:type="dcterms:W3CDTF">2026-05-07T08:33:01Z</dcterms:created>
  <dcterms:modified xsi:type="dcterms:W3CDTF">2026-05-07T08:54:56Z</dcterms:modified>
</cp:coreProperties>
</file>